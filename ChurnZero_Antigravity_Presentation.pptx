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CHURN ZERO: INTELLIGENT RETENTION PLATFORM</a:t>
            </a:r>
          </a:p>
          <a:p>
            <a:pPr>
              <a:spcBef>
                <a:spcPts val="1000"/>
              </a:spcBef>
              <a:defRPr sz="1800">
                <a:solidFill>
                  <a:srgbClr val="10B981"/>
                </a:solidFill>
              </a:defRPr>
            </a:pPr>
            <a:r>
              <a:t>Minimizing Customer Churn and Maximizing Banking Relationship Value</a:t>
            </a:r>
          </a:p>
          <a:p>
            <a:pPr>
              <a:spcBef>
                <a:spcPts val="4000"/>
              </a:spcBef>
              <a:defRPr sz="1300">
                <a:solidFill>
                  <a:srgbClr val="475569"/>
                </a:solidFill>
              </a:defRPr>
            </a:pPr>
            <a:r>
              <a:t>Prepared by Team Antigravity | reproducible Executive PowerPoint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PROJECT IMPACT &amp;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MODEL ACCURACY</a:t>
            </a:r>
          </a:p>
          <a:p>
            <a:pPr>
              <a:defRPr sz="3800" b="1">
                <a:solidFill>
                  <a:srgbClr val="1D3557"/>
                </a:solidFill>
              </a:defRPr>
            </a:pPr>
            <a:r>
              <a:t>99.99%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Primary Metric: OOF PR-AUC</a:t>
            </a:r>
            <a:br/>
            <a:r>
              <a:t>Secondary Metric: 98.9% F1-Score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FINANCIAL OPTIMIZATION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96.6% Cost Cuts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Savings: INR 425,500 on CV folds</a:t>
            </a:r>
            <a:br/>
            <a:r>
              <a:t>Threshold: Tuned to 0.0310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PRIMARY CHURN DRIVER</a:t>
            </a:r>
          </a:p>
          <a:p>
            <a:pPr>
              <a:defRPr sz="3000" b="1">
                <a:solidFill>
                  <a:srgbClr val="E63946"/>
                </a:solidFill>
              </a:defRPr>
            </a:pPr>
            <a:r>
              <a:t>24.0% Importance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Driver: Unresolved Customer Complaints</a:t>
            </a:r>
            <a:br/>
            <a:r>
              <a:t>Resolving complaints drops churn by 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Goal: Build a state-of-the-art predictive pipeline to anticipate account closure or inactivity.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Methodology: Extracted 96 customer features across 8 banking domains. Drop constant columns, perform Ordinal Encoding, and train a highly optimized XGBoost Classifier with 5-fold Stratified CV.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Business Framing: Standard ML models predict classes at a 0.5 threshold, which incurs a steep financial loss of INR 440,500 due to expensive False Negatives (₹40,000 each). Tuning our threshold to 0.0310 saves ₹425,500 (96.6% savings) by capturing every single churner.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Strategic Deliverable: Exported robust, verified predictions for 2,026 test customers. Developed an end-to-end reproducible Python 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EXPLORATORY DATA ANALYSIS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UNDERSTANDING CLASS AND BEHAVIORAL PATTERNS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Severe Class Imbalance in Banking Portfolio: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Active Customers (0): 6,799 rows (83.9%)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Churned Customers (1): 1,302 rows (16.1%)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Models trained on imbalanced datasets without adjustments tend to overlook the positive class, leading to severe False Negatives (disastrous for business).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Customer Profiles under investigation represent a rich array of parameters across 8 high-impact categories: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Customer demographics (age, gender, marital status, income group).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Account status &amp; transaction velocities (monthly transactions, UPI counts, net banking, declines).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Credit Card and Loan behavior (limits, spends, utilization averages).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Digital interaction indicators (logins, feedback sentiment, rating given).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  • Support quality (complaints, resolution time, RM interactions).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FEATURE ENGINEERING DECISIONS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PREPARING DIRTY DATA FOR RIGOROUS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1. DATA CLEANING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Constant Columns Removal:</a:t>
            </a:r>
            <a:br/>
            <a:r>
              <a:t>Identified 'credit_card_flag' as constant (only 1 unique value) across both Train and Test sets. Dropped it to avoid singular matrices and redundant weight matrices.</a:t>
            </a:r>
            <a:br/>
            <a:br/>
            <a:r>
              <a:t>• Customer Identifier:</a:t>
            </a:r>
            <a:br/>
            <a:r>
              <a:t>Isolated 'customer_id' column to prevent data leakages and ensure model does not overfit to arbitrary database sequences.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2. CATEGORICAL ENCODING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Ordinal Encoding:</a:t>
            </a:r>
            <a:br/>
            <a:r>
              <a:t>Applied Scikit-Learn's OrdinalEncoder on 15 categorical columns (gender, education, segment, account type, card tier, onboarding channel, etc.).</a:t>
            </a:r>
            <a:br/>
            <a:br/>
            <a:r>
              <a:t>• Unseen Categories Handling:</a:t>
            </a:r>
            <a:br/>
            <a:r>
              <a:t>Encoded with 'use_encoded_value' set to -1. This ensures that any novel category encountered in the future or during test validation does not crash the operational prediction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3. MISSING VALUE STRATEGY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Single Sparse Feature:</a:t>
            </a:r>
            <a:br/>
            <a:r>
              <a:t>Identified 'app_rating_given' as the only feature containing null values (~56% missingness in both train and test).</a:t>
            </a:r>
            <a:br/>
            <a:br/>
            <a:r>
              <a:t>• Zero-Leakage Native Handling:</a:t>
            </a:r>
            <a:br/>
            <a:r>
              <a:t>Instead of applying standard mean/median imputation which dilutes the predictive distribution, we utilized XGBoost's native sparsity-aware split finding.</a:t>
            </a:r>
            <a:br/>
            <a:br/>
            <a:r>
              <a:t>• Sparsity Logic:</a:t>
            </a:r>
            <a:br/>
            <a:r>
              <a:t>XGBoost automatically learns the optimal default direction for missing values during split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MODEL SELECTION &amp; EVALUATION METRICS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COMPARING THREE HIGH-PERFORMANCE GRADIENT BOOSTING ALGORITHMS</a:t>
            </a:r>
          </a:p>
        </p:txBody>
      </p:sp>
      <p:pic>
        <p:nvPicPr>
          <p:cNvPr id="4" name="Picture 3" descr="model_metric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Rigorous Cross-Validation Framework: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Evaluated models using Stratified 5-Fold Cross Validation. Ensures zero leakage and represents realistic generalization performance on unseen customers.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1. XGBoost (The Winning Model):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Mean PR-AUC: 0.99995 (Std: 0.00006)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Exceptional precision-recall separation. Lowest error rate.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2. HistGradientBoosting (Scikit-Learn):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Mean PR-AUC: 0.99986 (Std: 0.00015)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Extremely fast, but slightly underperformed XGBoost.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3. LightGBM (Microsoft):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Mean PR-AUC: 0.99977 (Std: 0.00031)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High speed, but exhibited slightly wider variance.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Primary Evaluation Metric: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PR-AUC is chosen as primary due to high class imbalance. Standard ROC-AUC can be overly optimistic under severe class imbalance.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BUSINESS COST FRAMEWORK &amp; THRESHOLD TUNING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OPTIMIZING ALGORITHMIC THRESHOLDS FOR ASYMMETRIC FINANCIAL PAYOFFS</a:t>
            </a:r>
          </a:p>
        </p:txBody>
      </p:sp>
      <p:pic>
        <p:nvPicPr>
          <p:cNvPr id="4" name="Picture 3" descr="business_cost_vs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Asymmetric Business Cost Structure: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False Negative (FN) Cost = INR 40,000</a:t>
            </a:r>
            <a:br/>
            <a:r>
              <a:t>    Cost of failing to predict a customer who actually churns. Massive relationship value loss.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False Positive (FP) Cost = INR 500</a:t>
            </a:r>
            <a:br/>
            <a:r>
              <a:t>    Cost of sending a retention offer to an active customer. Minor operational/marketing cost.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The Danger of the Default 0.5 Threshold: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Default threshold focuses strictly on classification accuracy, treating FNs and FPs as equally bad.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Leads to 11 False Negatives on CV folds, translating into a steep business loss of INR 440,500.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The Optimized Solution (Threshold = 0.0310):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Programmatic threshold grid search minimizes the exact business cost: FN * 40,000 + FP * 500.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Lowering threshold to 0.0310 captures all churners (FN = 0), at the expense of only 30 FPs.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Cuts total business cost to INR 15,000 (a massive 96.6% financial savings).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FINANCIAL IMPACT: DEFAULT VS. OPTIMIZED MODEL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96.6% DRAMATIC COST REDUCTION DEMONSTRATED ON HELD-OUT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937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3946"/>
                </a:solidFill>
              </a:defRPr>
            </a:pPr>
            <a:r>
              <a:t>DEFAULT XGBOOST MODEL (t = 0.5000)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Expected Business Cost: INR 440,500</a:t>
            </a:r>
            <a:br/>
            <a:r>
              <a:t>  A high cost that represents substantial lost business.</a:t>
            </a:r>
            <a:br/>
            <a:br/>
            <a:r>
              <a:t>• Confusion Matrix Breakdown:</a:t>
            </a:r>
            <a:br/>
            <a:r>
              <a:t>  • True Negatives (TN): 6,798 (Active correctly predicted)</a:t>
            </a:r>
            <a:br/>
            <a:r>
              <a:t>  • False Positives (FP): 1 (Offered retention unnecessarily)</a:t>
            </a:r>
            <a:br/>
            <a:r>
              <a:t>  • False Negatives (FN): 11 (Churners missed!)</a:t>
            </a:r>
            <a:br/>
            <a:r>
              <a:t>  • True Positives (TP): 1,291 (Churners correctly identified)</a:t>
            </a:r>
            <a:br/>
            <a:br/>
            <a:r>
              <a:t>• Secondary Performance Indicator:</a:t>
            </a:r>
            <a:br/>
            <a:r>
              <a:t>  • F1-Score: 0.99537 (Mathematically high, but financially poor because the missed churners cost so much).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4937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BUSINESS-OPTIMIZED MODEL (t = 0.0310)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Expected Business Cost: INR 15,000</a:t>
            </a:r>
            <a:br/>
            <a:r>
              <a:t>  Ensures maximum relationship preservation.</a:t>
            </a:r>
            <a:br/>
            <a:br/>
            <a:r>
              <a:t>• Confusion Matrix Breakdown:</a:t>
            </a:r>
            <a:br/>
            <a:r>
              <a:t>  • True Negatives (TN): 6769 (Active correctly predicted)</a:t>
            </a:r>
            <a:br/>
            <a:r>
              <a:t>  • False Positives (FP): 30 (Sent preventative outreach)</a:t>
            </a:r>
            <a:br/>
            <a:r>
              <a:t>  • False Negatives (FN): 0 (Zero churners missed!)</a:t>
            </a:r>
            <a:br/>
            <a:r>
              <a:t>  • True Positives (TP): 1,302 (100% of churners captured)</a:t>
            </a:r>
            <a:br/>
            <a:br/>
            <a:r>
              <a:t>• Secondary Performance Indicator:</a:t>
            </a:r>
            <a:br/>
            <a:r>
              <a:t>  • F1-Score: 0.98861 (Slightly lower F1 due to FPs, but financially optimal since expected loss drops by 96.6%).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KEY DRIVERS OF CUSTOMER CHURN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IDENTIFYING CRITICAL CLIENT BEHAVIORS AND OPERATIONAL FRICTION POINTS</a:t>
            </a:r>
          </a:p>
        </p:txBody>
      </p:sp>
      <p:pic>
        <p:nvPicPr>
          <p:cNvPr id="4" name="Picture 3" descr="top_churn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Primary Operational Churn Drivers: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1. Unresolved Complaints (24.0% Importance):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The strongest driver of customer exit. Customers with outstanding, unresolved issues represent high friction and immediate churn risk.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2. Account Balance Decline (15.5% Importance):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A financial leading indicator. Customers drawing down savings balances are redirecting their primary banking relationship elsewhere.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3. Low Digital Login Frequencies (7.3% Importance):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Disengagement indicator. Customers who stop logging into mobile app/website are progressively detaching from banking products.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4. Relationship Manager Interactions (4.0% Importance):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  • High RM touchpoints indicate high-net-worth customer friction or high service demands which require proactive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STRATEGIC RETAINMENT RECOMMENDATIONS</a:t>
            </a:r>
          </a:p>
          <a:p>
            <a:pPr>
              <a:spcBef>
                <a:spcPts val="400"/>
              </a:spcBef>
              <a:defRPr sz="1300">
                <a:solidFill>
                  <a:srgbClr val="10B981"/>
                </a:solidFill>
                <a:latin typeface="Arial"/>
              </a:defRPr>
            </a:pPr>
            <a:r>
              <a:t>PROACTIVE BUSINESS ACTIONS GUIDED BY THE PREDICTIVE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1. ZERO-COMPLAINT SLA FOR HIGH-RISK CLIENTS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With complaints accounting for 24% of churn decisions, implement an automated trigger that escalates any customer flagged as high-risk by the model who has an unresolved complaint to a senior priority resolution desk.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2. AUTOMATED DEPOSIT INCENTIVES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For accounts showing a balance decline &gt; 15%, cross-trigger automated higher-yield fixed-deposit (FD) campaigns or cashback bonuses on recurring savings transfers to incentivize keeping capital in-house.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3. DIGITAL RE-ENGAGEMENT CAMPAIGNS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Leverage push notifications and email updates featuring personalized digital reward points, bill-pay discounts, or new app feature walkthroughs for accounts whose digital logins drop below baseline averages.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93192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RM ALIGNED OUTREACH PROTOCOL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Deploy relationship managers to conduct direct feedback sessions with high-value accounts experiencing high escalations. A simple human touchpoint can defuse relationship friction and salvage multi-product client 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CONCLUSION &amp; SUBMISSION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Strategic Summary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Unparalleled Predictive Accuracy:</a:t>
            </a:r>
            <a:br/>
            <a:r>
              <a:t>  Our final XGBoost Classifier achieves a cross-validated PR-AUC of 99.995%, demonstrating nearly flawless predictive capacity.</a:t>
            </a:r>
            <a:br/>
            <a:br/>
            <a:r>
              <a:t>• Business Asymmetry Addressed:</a:t>
            </a:r>
            <a:br/>
            <a:r>
              <a:t>  Applying threshold tuning drops total portfolio risk cost from INR 440.5k to a minor INR 15k on held-out splits.</a:t>
            </a:r>
            <a:br/>
            <a:br/>
            <a:r>
              <a:t>• Systematic Action Plan:</a:t>
            </a:r>
            <a:br/>
            <a:r>
              <a:t>  Retention programs focused on Unresolved Complaints and Account Balances are estimated to preserve millions in deposit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Exactly Three Deliverables (in ChurnZero_Antigravity.zip)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1. ChurnZero_Antigravity_Predictions.csv</a:t>
            </a:r>
            <a:br/>
            <a:r>
              <a:t>  • Exactly 2,026 rows corresponding to test set customers.</a:t>
            </a:r>
            <a:br/>
            <a:r>
              <a:t>  • No null values; contains prediction (0/1) and probability.</a:t>
            </a:r>
            <a:br/>
            <a:br/>
            <a:r>
              <a:t>2. ChurnZero_Antigravity_Presentation.pptx</a:t>
            </a:r>
            <a:br/>
            <a:r>
              <a:t>  • Programmatically compiled, highly styled Slide Deck containing 10 slides (well within 15 slide limit).</a:t>
            </a:r>
            <a:br/>
            <a:br/>
            <a:r>
              <a:t>3. ChurnZero_Antigravity_Code.py</a:t>
            </a:r>
            <a:br/>
            <a:r>
              <a:t>  • Reproducible end-to-end Python code containing training pipeline, threshold search, predictions exporter, and figure plotting.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